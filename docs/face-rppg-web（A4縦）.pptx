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</p:sldIdLst>
  <p:sldSz cy="10692000" cx="7560000"/>
  <p:notesSz cx="6858000" cy="9144000"/>
  <p:embeddedFontLst>
    <p:embeddedFont>
      <p:font typeface="Noto Sans"/>
      <p:regular r:id="rId8"/>
      <p:bold r:id="rId9"/>
      <p:italic r:id="rId10"/>
      <p:boldItalic r:id="rId11"/>
    </p:embeddedFont>
    <p:embeddedFont>
      <p:font typeface="Orbitron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368">
          <p15:clr>
            <a:srgbClr val="747775"/>
          </p15:clr>
        </p15:guide>
        <p15:guide id="2" pos="238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368" orient="horz"/>
        <p:guide pos="2381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NotoSans-boldItalic.fntdata"/><Relationship Id="rId10" Type="http://schemas.openxmlformats.org/officeDocument/2006/relationships/font" Target="fonts/NotoSans-italic.fntdata"/><Relationship Id="rId13" Type="http://schemas.openxmlformats.org/officeDocument/2006/relationships/font" Target="fonts/Orbitron-bold.fntdata"/><Relationship Id="rId12" Type="http://schemas.openxmlformats.org/officeDocument/2006/relationships/font" Target="fonts/Orbitron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NotoSans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Noto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f80320c741_0_274:notes"/>
          <p:cNvSpPr/>
          <p:nvPr>
            <p:ph idx="2" type="sldImg"/>
          </p:nvPr>
        </p:nvSpPr>
        <p:spPr>
          <a:xfrm>
            <a:off x="439881" y="1382490"/>
            <a:ext cx="3519000" cy="373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g3f80320c741_0_274:notes"/>
          <p:cNvSpPr txBox="1"/>
          <p:nvPr>
            <p:ph idx="1" type="body"/>
          </p:nvPr>
        </p:nvSpPr>
        <p:spPr>
          <a:xfrm>
            <a:off x="439883" y="5322588"/>
            <a:ext cx="3519000" cy="43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g3f80320c741_0_274:notes"/>
          <p:cNvSpPr txBox="1"/>
          <p:nvPr>
            <p:ph idx="12" type="sldNum"/>
          </p:nvPr>
        </p:nvSpPr>
        <p:spPr>
          <a:xfrm>
            <a:off x="2491652" y="10505007"/>
            <a:ext cx="1906200" cy="554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57712" y="1547778"/>
            <a:ext cx="7044600" cy="426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57705" y="5891409"/>
            <a:ext cx="7044600" cy="16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57705" y="4471058"/>
            <a:ext cx="7044600" cy="174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57705" y="2395696"/>
            <a:ext cx="3306900" cy="71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3995291" y="2395696"/>
            <a:ext cx="3306900" cy="71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57705" y="1154948"/>
            <a:ext cx="2321700" cy="157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57705" y="2888617"/>
            <a:ext cx="2321700" cy="6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05325" y="935745"/>
            <a:ext cx="5264700" cy="85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780000" y="-260"/>
            <a:ext cx="3780000" cy="106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19508" y="2563450"/>
            <a:ext cx="3344400" cy="308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19508" y="5826865"/>
            <a:ext cx="3344400" cy="25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083839" y="1505164"/>
            <a:ext cx="3172200" cy="76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57705" y="8794266"/>
            <a:ext cx="4959600" cy="125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57705" y="2299346"/>
            <a:ext cx="7044600" cy="408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57705" y="6552657"/>
            <a:ext cx="7044600" cy="27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image" Target="../media/image11.png"/><Relationship Id="rId11" Type="http://schemas.openxmlformats.org/officeDocument/2006/relationships/image" Target="../media/image4.png"/><Relationship Id="rId10" Type="http://schemas.openxmlformats.org/officeDocument/2006/relationships/image" Target="../media/image18.png"/><Relationship Id="rId13" Type="http://schemas.openxmlformats.org/officeDocument/2006/relationships/image" Target="../media/image6.png"/><Relationship Id="rId12" Type="http://schemas.openxmlformats.org/officeDocument/2006/relationships/image" Target="../media/image15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9" Type="http://schemas.openxmlformats.org/officeDocument/2006/relationships/image" Target="../media/image8.png"/><Relationship Id="rId15" Type="http://schemas.openxmlformats.org/officeDocument/2006/relationships/image" Target="../media/image9.png"/><Relationship Id="rId14" Type="http://schemas.openxmlformats.org/officeDocument/2006/relationships/image" Target="../media/image3.png"/><Relationship Id="rId17" Type="http://schemas.openxmlformats.org/officeDocument/2006/relationships/image" Target="../media/image14.png"/><Relationship Id="rId16" Type="http://schemas.openxmlformats.org/officeDocument/2006/relationships/image" Target="../media/image2.png"/><Relationship Id="rId5" Type="http://schemas.openxmlformats.org/officeDocument/2006/relationships/image" Target="../media/image1.png"/><Relationship Id="rId19" Type="http://schemas.openxmlformats.org/officeDocument/2006/relationships/image" Target="../media/image17.png"/><Relationship Id="rId6" Type="http://schemas.openxmlformats.org/officeDocument/2006/relationships/image" Target="../media/image12.png"/><Relationship Id="rId18" Type="http://schemas.openxmlformats.org/officeDocument/2006/relationships/image" Target="../media/image7.png"/><Relationship Id="rId7" Type="http://schemas.openxmlformats.org/officeDocument/2006/relationships/image" Target="../media/image16.png"/><Relationship Id="rId8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6"/>
          <p:cNvSpPr/>
          <p:nvPr/>
        </p:nvSpPr>
        <p:spPr>
          <a:xfrm>
            <a:off x="121800" y="121800"/>
            <a:ext cx="7312800" cy="1577700"/>
          </a:xfrm>
          <a:prstGeom prst="roundRect">
            <a:avLst>
              <a:gd fmla="val 4637" name="adj"/>
            </a:avLst>
          </a:prstGeom>
          <a:solidFill>
            <a:srgbClr val="FFFFFF"/>
          </a:solidFill>
          <a:ln cap="flat" cmpd="sng" w="76200">
            <a:solidFill>
              <a:srgbClr val="3A8B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6"/>
          <p:cNvSpPr/>
          <p:nvPr/>
        </p:nvSpPr>
        <p:spPr>
          <a:xfrm>
            <a:off x="1123204" y="501976"/>
            <a:ext cx="53100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A68"/>
              </a:buClr>
              <a:buSzPts val="2900"/>
              <a:buFont typeface="Noto Sans"/>
              <a:buNone/>
            </a:pPr>
            <a:r>
              <a:rPr b="1" i="0" lang="ja" sz="2900" u="none" cap="none" strike="noStrike">
                <a:solidFill>
                  <a:srgbClr val="082A68"/>
                </a:solidFill>
                <a:latin typeface="Noto Sans"/>
                <a:ea typeface="Noto Sans"/>
                <a:cs typeface="Noto Sans"/>
                <a:sym typeface="Noto Sans"/>
              </a:rPr>
              <a:t>カメラ</a:t>
            </a:r>
            <a:r>
              <a:rPr b="1" lang="ja" sz="2900">
                <a:solidFill>
                  <a:srgbClr val="082A68"/>
                </a:solidFill>
                <a:latin typeface="Noto Sans"/>
                <a:ea typeface="Noto Sans"/>
                <a:cs typeface="Noto Sans"/>
                <a:sym typeface="Noto Sans"/>
              </a:rPr>
              <a:t>を用いた心拍数の測定</a:t>
            </a:r>
            <a:endParaRPr b="0" i="0" sz="29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0" name="Google Shape;60;p16"/>
          <p:cNvSpPr/>
          <p:nvPr/>
        </p:nvSpPr>
        <p:spPr>
          <a:xfrm>
            <a:off x="1388255" y="1118678"/>
            <a:ext cx="47799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A68"/>
              </a:buClr>
              <a:buSzPts val="1700"/>
              <a:buFont typeface="Noto Sans"/>
              <a:buNone/>
            </a:pPr>
            <a:r>
              <a:rPr b="1" lang="ja" sz="1700">
                <a:solidFill>
                  <a:srgbClr val="082A68"/>
                </a:solidFill>
                <a:latin typeface="Noto Sans"/>
                <a:ea typeface="Noto Sans"/>
                <a:cs typeface="Noto Sans"/>
                <a:sym typeface="Noto Sans"/>
              </a:rPr>
              <a:t>顔色の小さな変化から、脈の速さを測定します</a:t>
            </a:r>
            <a:endParaRPr b="1" sz="1700">
              <a:solidFill>
                <a:srgbClr val="082A68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1" name="Google Shape;61;p16"/>
          <p:cNvSpPr/>
          <p:nvPr/>
        </p:nvSpPr>
        <p:spPr>
          <a:xfrm>
            <a:off x="121800" y="1821304"/>
            <a:ext cx="7259400" cy="889500"/>
          </a:xfrm>
          <a:prstGeom prst="roundRect">
            <a:avLst>
              <a:gd fmla="val 8161" name="adj"/>
            </a:avLst>
          </a:prstGeom>
          <a:solidFill>
            <a:srgbClr val="FFFFFF"/>
          </a:solidFill>
          <a:ln cap="flat" cmpd="sng" w="15225">
            <a:solidFill>
              <a:srgbClr val="9BCD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6"/>
          <p:cNvSpPr/>
          <p:nvPr/>
        </p:nvSpPr>
        <p:spPr>
          <a:xfrm>
            <a:off x="150125" y="8126819"/>
            <a:ext cx="3265800" cy="2415300"/>
          </a:xfrm>
          <a:prstGeom prst="roundRect">
            <a:avLst>
              <a:gd fmla="val 3139" name="adj"/>
            </a:avLst>
          </a:prstGeom>
          <a:noFill/>
          <a:ln cap="flat" cmpd="sng" w="16500">
            <a:solidFill>
              <a:srgbClr val="9BCD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16"/>
          <p:cNvGrpSpPr/>
          <p:nvPr/>
        </p:nvGrpSpPr>
        <p:grpSpPr>
          <a:xfrm>
            <a:off x="290830" y="8268938"/>
            <a:ext cx="2162375" cy="251100"/>
            <a:chOff x="329156" y="8320414"/>
            <a:chExt cx="2162375" cy="251100"/>
          </a:xfrm>
        </p:grpSpPr>
        <p:grpSp>
          <p:nvGrpSpPr>
            <p:cNvPr id="64" name="Google Shape;64;p16"/>
            <p:cNvGrpSpPr/>
            <p:nvPr/>
          </p:nvGrpSpPr>
          <p:grpSpPr>
            <a:xfrm>
              <a:off x="329156" y="8320414"/>
              <a:ext cx="250800" cy="251100"/>
              <a:chOff x="358281" y="8519176"/>
              <a:chExt cx="250800" cy="251100"/>
            </a:xfrm>
          </p:grpSpPr>
          <p:sp>
            <p:nvSpPr>
              <p:cNvPr id="65" name="Google Shape;65;p16"/>
              <p:cNvSpPr/>
              <p:nvPr/>
            </p:nvSpPr>
            <p:spPr>
              <a:xfrm>
                <a:off x="358281" y="8519176"/>
                <a:ext cx="250800" cy="251100"/>
              </a:xfrm>
              <a:prstGeom prst="ellipse">
                <a:avLst/>
              </a:prstGeom>
              <a:solidFill>
                <a:srgbClr val="2A7DCC"/>
              </a:solidFill>
              <a:ln cap="flat" cmpd="sng" w="12700">
                <a:solidFill>
                  <a:srgbClr val="2A7DCC">
                    <a:alpha val="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16"/>
              <p:cNvSpPr/>
              <p:nvPr/>
            </p:nvSpPr>
            <p:spPr>
              <a:xfrm>
                <a:off x="358281" y="8526347"/>
                <a:ext cx="250800" cy="229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700"/>
                  <a:buFont typeface="Noto Sans"/>
                  <a:buNone/>
                </a:pPr>
                <a:r>
                  <a:rPr b="1" i="0" lang="ja" sz="1500" u="none" cap="none" strike="noStrike">
                    <a:solidFill>
                      <a:srgbClr val="FFFFF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i</a:t>
                </a:r>
                <a:endParaRPr b="0" i="0" sz="1500" u="none" cap="none" strike="noStrike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</p:grpSp>
        <p:sp>
          <p:nvSpPr>
            <p:cNvPr id="67" name="Google Shape;67;p16"/>
            <p:cNvSpPr/>
            <p:nvPr/>
          </p:nvSpPr>
          <p:spPr>
            <a:xfrm>
              <a:off x="628531" y="8349214"/>
              <a:ext cx="1863000" cy="19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82A68"/>
                </a:buClr>
                <a:buSzPts val="1400"/>
                <a:buFont typeface="Noto Sans"/>
                <a:buNone/>
              </a:pPr>
              <a:r>
                <a:rPr b="1" lang="ja" sz="1600">
                  <a:solidFill>
                    <a:srgbClr val="082A68"/>
                  </a:solidFill>
                  <a:latin typeface="Noto Sans"/>
                  <a:ea typeface="Noto Sans"/>
                  <a:cs typeface="Noto Sans"/>
                  <a:sym typeface="Noto Sans"/>
                </a:rPr>
                <a:t>測定情報</a:t>
              </a:r>
              <a:endParaRPr b="1" sz="1600">
                <a:solidFill>
                  <a:srgbClr val="082A68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sp>
        <p:nvSpPr>
          <p:cNvPr id="68" name="Google Shape;68;p16"/>
          <p:cNvSpPr/>
          <p:nvPr/>
        </p:nvSpPr>
        <p:spPr>
          <a:xfrm>
            <a:off x="723281" y="8736353"/>
            <a:ext cx="25797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Noto Sans"/>
              <a:buNone/>
            </a:pPr>
            <a:r>
              <a:rPr b="1" lang="ja" sz="1200">
                <a:solidFill>
                  <a:srgbClr val="222222"/>
                </a:solidFill>
                <a:latin typeface="Noto Sans"/>
                <a:ea typeface="Noto Sans"/>
                <a:cs typeface="Noto Sans"/>
                <a:sym typeface="Noto Sans"/>
              </a:rPr>
              <a:t>BPM</a:t>
            </a:r>
            <a:r>
              <a:rPr b="1" i="0" lang="ja" sz="1200" u="none" cap="none" strike="noStrike">
                <a:solidFill>
                  <a:srgbClr val="222222"/>
                </a:solidFill>
                <a:latin typeface="Noto Sans"/>
                <a:ea typeface="Noto Sans"/>
                <a:cs typeface="Noto Sans"/>
                <a:sym typeface="Noto Sans"/>
              </a:rPr>
              <a:t>：1分あたりの拍動の回数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69" name="Google Shape;69;p16"/>
          <p:cNvCxnSpPr/>
          <p:nvPr/>
        </p:nvCxnSpPr>
        <p:spPr>
          <a:xfrm>
            <a:off x="293327" y="9088887"/>
            <a:ext cx="2937900" cy="0"/>
          </a:xfrm>
          <a:prstGeom prst="straightConnector1">
            <a:avLst/>
          </a:prstGeom>
          <a:noFill/>
          <a:ln cap="flat" cmpd="sng" w="12700">
            <a:solidFill>
              <a:srgbClr val="C6E2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" name="Google Shape;70;p16"/>
          <p:cNvSpPr/>
          <p:nvPr/>
        </p:nvSpPr>
        <p:spPr>
          <a:xfrm>
            <a:off x="723281" y="9217406"/>
            <a:ext cx="25797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Noto Sans"/>
              <a:buNone/>
            </a:pPr>
            <a:r>
              <a:rPr b="1" lang="ja" sz="1200">
                <a:solidFill>
                  <a:srgbClr val="222222"/>
                </a:solidFill>
                <a:latin typeface="Noto Sans"/>
                <a:ea typeface="Noto Sans"/>
                <a:cs typeface="Noto Sans"/>
                <a:sym typeface="Noto Sans"/>
              </a:rPr>
              <a:t>Quality</a:t>
            </a:r>
            <a:r>
              <a:rPr b="1" i="0" lang="ja" sz="1200" u="none" cap="none" strike="noStrike">
                <a:solidFill>
                  <a:srgbClr val="222222"/>
                </a:solidFill>
                <a:latin typeface="Noto Sans"/>
                <a:ea typeface="Noto Sans"/>
                <a:cs typeface="Noto Sans"/>
                <a:sym typeface="Noto Sans"/>
              </a:rPr>
              <a:t>：</a:t>
            </a:r>
            <a:r>
              <a:rPr b="1" lang="ja" sz="1200">
                <a:solidFill>
                  <a:srgbClr val="222222"/>
                </a:solidFill>
                <a:latin typeface="Noto Sans"/>
                <a:ea typeface="Noto Sans"/>
                <a:cs typeface="Noto Sans"/>
                <a:sym typeface="Noto Sans"/>
              </a:rPr>
              <a:t>波形のピーク強度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71" name="Google Shape;71;p16"/>
          <p:cNvCxnSpPr/>
          <p:nvPr/>
        </p:nvCxnSpPr>
        <p:spPr>
          <a:xfrm>
            <a:off x="293327" y="9544657"/>
            <a:ext cx="2937900" cy="0"/>
          </a:xfrm>
          <a:prstGeom prst="straightConnector1">
            <a:avLst/>
          </a:prstGeom>
          <a:noFill/>
          <a:ln cap="flat" cmpd="sng" w="12700">
            <a:solidFill>
              <a:srgbClr val="C6E2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16"/>
          <p:cNvSpPr/>
          <p:nvPr/>
        </p:nvSpPr>
        <p:spPr>
          <a:xfrm>
            <a:off x="723281" y="9698460"/>
            <a:ext cx="25797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Noto Sans"/>
              <a:buNone/>
            </a:pPr>
            <a:r>
              <a:rPr b="1" lang="ja" sz="1200">
                <a:solidFill>
                  <a:srgbClr val="222222"/>
                </a:solidFill>
                <a:latin typeface="Noto Sans"/>
                <a:ea typeface="Noto Sans"/>
                <a:cs typeface="Noto Sans"/>
                <a:sym typeface="Noto Sans"/>
              </a:rPr>
              <a:t>Face Area</a:t>
            </a:r>
            <a:r>
              <a:rPr b="1" i="0" lang="ja" sz="1200" u="none" cap="none" strike="noStrike">
                <a:solidFill>
                  <a:srgbClr val="222222"/>
                </a:solidFill>
                <a:latin typeface="Noto Sans"/>
                <a:ea typeface="Noto Sans"/>
                <a:cs typeface="Noto Sans"/>
                <a:sym typeface="Noto Sans"/>
              </a:rPr>
              <a:t>：画面の中での顔の広さ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73" name="Google Shape;73;p16"/>
          <p:cNvCxnSpPr/>
          <p:nvPr/>
        </p:nvCxnSpPr>
        <p:spPr>
          <a:xfrm>
            <a:off x="293327" y="10046802"/>
            <a:ext cx="2937900" cy="0"/>
          </a:xfrm>
          <a:prstGeom prst="straightConnector1">
            <a:avLst/>
          </a:prstGeom>
          <a:noFill/>
          <a:ln cap="flat" cmpd="sng" w="12700">
            <a:solidFill>
              <a:srgbClr val="C6E2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16"/>
          <p:cNvSpPr/>
          <p:nvPr/>
        </p:nvSpPr>
        <p:spPr>
          <a:xfrm>
            <a:off x="723281" y="10179513"/>
            <a:ext cx="25797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Noto Sans"/>
              <a:buNone/>
            </a:pPr>
            <a:r>
              <a:rPr b="1" lang="ja" sz="1200">
                <a:solidFill>
                  <a:srgbClr val="222222"/>
                </a:solidFill>
                <a:latin typeface="Noto Sans"/>
                <a:ea typeface="Noto Sans"/>
                <a:cs typeface="Noto Sans"/>
                <a:sym typeface="Noto Sans"/>
              </a:rPr>
              <a:t>FPS</a:t>
            </a:r>
            <a:r>
              <a:rPr b="1" i="0" lang="ja" sz="1200" u="none" cap="none" strike="noStrike">
                <a:solidFill>
                  <a:srgbClr val="222222"/>
                </a:solidFill>
                <a:latin typeface="Noto Sans"/>
                <a:ea typeface="Noto Sans"/>
                <a:cs typeface="Noto Sans"/>
                <a:sym typeface="Noto Sans"/>
              </a:rPr>
              <a:t>：</a:t>
            </a:r>
            <a:r>
              <a:rPr b="1" lang="ja" sz="1200">
                <a:solidFill>
                  <a:srgbClr val="222222"/>
                </a:solidFill>
                <a:latin typeface="Noto Sans"/>
                <a:ea typeface="Noto Sans"/>
                <a:cs typeface="Noto Sans"/>
                <a:sym typeface="Noto Sans"/>
              </a:rPr>
              <a:t>1秒あたりの映像の更新回数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3556637" y="8126369"/>
            <a:ext cx="3853200" cy="2415300"/>
          </a:xfrm>
          <a:prstGeom prst="roundRect">
            <a:avLst>
              <a:gd fmla="val 3188" name="adj"/>
            </a:avLst>
          </a:prstGeom>
          <a:solidFill>
            <a:srgbClr val="FFF8F0"/>
          </a:solidFill>
          <a:ln cap="flat" cmpd="sng" w="16500">
            <a:solidFill>
              <a:srgbClr val="F0A4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6" name="Google Shape;76;p16"/>
          <p:cNvGrpSpPr/>
          <p:nvPr/>
        </p:nvGrpSpPr>
        <p:grpSpPr>
          <a:xfrm>
            <a:off x="3697327" y="8258189"/>
            <a:ext cx="1275697" cy="329816"/>
            <a:chOff x="4545505" y="8290514"/>
            <a:chExt cx="1275697" cy="329816"/>
          </a:xfrm>
        </p:grpSpPr>
        <p:grpSp>
          <p:nvGrpSpPr>
            <p:cNvPr id="77" name="Google Shape;77;p16"/>
            <p:cNvGrpSpPr/>
            <p:nvPr/>
          </p:nvGrpSpPr>
          <p:grpSpPr>
            <a:xfrm>
              <a:off x="4545505" y="8290514"/>
              <a:ext cx="358200" cy="329816"/>
              <a:chOff x="4545505" y="8284106"/>
              <a:chExt cx="358200" cy="329816"/>
            </a:xfrm>
          </p:grpSpPr>
          <p:sp>
            <p:nvSpPr>
              <p:cNvPr id="78" name="Google Shape;78;p16"/>
              <p:cNvSpPr/>
              <p:nvPr/>
            </p:nvSpPr>
            <p:spPr>
              <a:xfrm>
                <a:off x="4545505" y="8284106"/>
                <a:ext cx="358200" cy="322800"/>
              </a:xfrm>
              <a:prstGeom prst="triangle">
                <a:avLst>
                  <a:gd fmla="val 50000" name="adj"/>
                </a:avLst>
              </a:prstGeom>
              <a:solidFill>
                <a:srgbClr val="F26C2F"/>
              </a:solidFill>
              <a:ln cap="flat" cmpd="sng" w="12700">
                <a:solidFill>
                  <a:srgbClr val="F26C2F">
                    <a:alpha val="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16"/>
              <p:cNvSpPr/>
              <p:nvPr/>
            </p:nvSpPr>
            <p:spPr>
              <a:xfrm>
                <a:off x="4610000" y="8327122"/>
                <a:ext cx="215100" cy="286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Noto Sans"/>
                  <a:buNone/>
                </a:pPr>
                <a:r>
                  <a:rPr b="1" i="0" lang="ja" sz="2000" u="none" cap="none" strike="noStrike">
                    <a:solidFill>
                      <a:srgbClr val="FFFFF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!</a:t>
                </a:r>
                <a:endParaRPr b="0" i="0" sz="2000" u="none" cap="none" strike="noStrike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</p:grpSp>
        <p:sp>
          <p:nvSpPr>
            <p:cNvPr id="80" name="Google Shape;80;p16"/>
            <p:cNvSpPr/>
            <p:nvPr/>
          </p:nvSpPr>
          <p:spPr>
            <a:xfrm>
              <a:off x="4961402" y="8304823"/>
              <a:ext cx="859800" cy="30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26C2F"/>
                </a:buClr>
                <a:buSzPts val="2200"/>
                <a:buFont typeface="Noto Sans"/>
                <a:buNone/>
              </a:pPr>
              <a:r>
                <a:rPr b="1" i="0" lang="ja" sz="1600" u="none" cap="none" strike="noStrike">
                  <a:solidFill>
                    <a:srgbClr val="F26C2F"/>
                  </a:solidFill>
                  <a:latin typeface="Noto Sans"/>
                  <a:ea typeface="Noto Sans"/>
                  <a:cs typeface="Noto Sans"/>
                  <a:sym typeface="Noto Sans"/>
                </a:rPr>
                <a:t>注意</a:t>
              </a:r>
              <a:endParaRPr b="0" i="0" sz="1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sp>
        <p:nvSpPr>
          <p:cNvPr id="81" name="Google Shape;81;p16"/>
          <p:cNvSpPr/>
          <p:nvPr/>
        </p:nvSpPr>
        <p:spPr>
          <a:xfrm>
            <a:off x="3759700" y="9544647"/>
            <a:ext cx="3449100" cy="88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Noto Sans"/>
              <a:buNone/>
            </a:pPr>
            <a:r>
              <a:rPr b="1" lang="ja" sz="1200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顔の動き、照明の環境、カメラの画質によって</a:t>
            </a:r>
            <a:endParaRPr b="1" sz="1200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Noto Sans"/>
              <a:buNone/>
            </a:pPr>
            <a:r>
              <a:rPr b="1" lang="ja" sz="1200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測定結果が変わることがあります。</a:t>
            </a:r>
            <a:endParaRPr b="1" sz="1200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F4D57"/>
              </a:buClr>
              <a:buSzPts val="1300"/>
              <a:buFont typeface="Noto Sans"/>
              <a:buNone/>
            </a:pPr>
            <a:r>
              <a:rPr b="1" lang="ja" sz="1200">
                <a:solidFill>
                  <a:srgbClr val="EF4D57"/>
                </a:solidFill>
                <a:latin typeface="Noto Sans"/>
                <a:ea typeface="Noto Sans"/>
                <a:cs typeface="Noto Sans"/>
                <a:sym typeface="Noto Sans"/>
              </a:rPr>
              <a:t>このアプリは医療機器ではありません。</a:t>
            </a:r>
            <a:endParaRPr b="1" sz="1200">
              <a:solidFill>
                <a:srgbClr val="333333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931653" y="1923604"/>
            <a:ext cx="56397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300">
                <a:solidFill>
                  <a:srgbClr val="222222"/>
                </a:solidFill>
                <a:latin typeface="Noto Sans"/>
                <a:ea typeface="Noto Sans"/>
                <a:cs typeface="Noto Sans"/>
                <a:sym typeface="Noto Sans"/>
              </a:rPr>
              <a:t>心臓が動くたびに、顔の色は少しだけ変わります。</a:t>
            </a:r>
            <a:endParaRPr b="1" sz="1300">
              <a:solidFill>
                <a:srgbClr val="22222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300">
                <a:solidFill>
                  <a:srgbClr val="222222"/>
                </a:solidFill>
                <a:latin typeface="Noto Sans"/>
                <a:ea typeface="Noto Sans"/>
                <a:cs typeface="Noto Sans"/>
                <a:sym typeface="Noto Sans"/>
              </a:rPr>
              <a:t>このアプリはその小さな変化をカメラで読み取り、心拍数を測定します。</a:t>
            </a:r>
            <a:endParaRPr b="1" sz="1300">
              <a:solidFill>
                <a:srgbClr val="22222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5089387" y="3132108"/>
            <a:ext cx="2328900" cy="2352000"/>
          </a:xfrm>
          <a:prstGeom prst="roundRect">
            <a:avLst>
              <a:gd fmla="val 3141" name="adj"/>
            </a:avLst>
          </a:prstGeom>
          <a:solidFill>
            <a:srgbClr val="FFFFFF"/>
          </a:solidFill>
          <a:ln cap="flat" cmpd="sng" w="16500">
            <a:solidFill>
              <a:srgbClr val="8BC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/>
          <p:nvPr/>
        </p:nvSpPr>
        <p:spPr>
          <a:xfrm>
            <a:off x="5230072" y="3272956"/>
            <a:ext cx="322500" cy="322800"/>
          </a:xfrm>
          <a:prstGeom prst="ellipse">
            <a:avLst/>
          </a:prstGeom>
          <a:solidFill>
            <a:srgbClr val="2A7DCC"/>
          </a:solidFill>
          <a:ln cap="flat" cmpd="sng" w="12700">
            <a:solidFill>
              <a:srgbClr val="2A7DC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/>
          <p:nvPr/>
        </p:nvSpPr>
        <p:spPr>
          <a:xfrm>
            <a:off x="5230072" y="3287298"/>
            <a:ext cx="322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"/>
              <a:buNone/>
            </a:pPr>
            <a:r>
              <a:rPr b="1" i="0" lang="ja" sz="16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5606919" y="3290983"/>
            <a:ext cx="17802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A68"/>
              </a:buClr>
              <a:buSzPts val="1700"/>
              <a:buFont typeface="Noto Sans"/>
              <a:buNone/>
            </a:pPr>
            <a:r>
              <a:rPr b="1" lang="ja" sz="1600">
                <a:solidFill>
                  <a:srgbClr val="082A68"/>
                </a:solidFill>
                <a:latin typeface="Noto Sans"/>
                <a:ea typeface="Noto Sans"/>
                <a:cs typeface="Noto Sans"/>
                <a:sym typeface="Noto Sans"/>
              </a:rPr>
              <a:t>特定領域の切抜き </a:t>
            </a:r>
            <a:endParaRPr b="1" sz="1600">
              <a:solidFill>
                <a:srgbClr val="082A68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5168367" y="4973023"/>
            <a:ext cx="21498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Noto Sans"/>
              <a:buNone/>
            </a:pPr>
            <a:r>
              <a:rPr b="1" lang="ja" sz="1200">
                <a:solidFill>
                  <a:srgbClr val="222222"/>
                </a:solidFill>
                <a:latin typeface="Noto Sans"/>
                <a:ea typeface="Noto Sans"/>
                <a:cs typeface="Noto Sans"/>
                <a:sym typeface="Noto Sans"/>
              </a:rPr>
              <a:t>額や頬など特定の領域を</a:t>
            </a:r>
            <a:endParaRPr b="1" sz="1200">
              <a:solidFill>
                <a:srgbClr val="22222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Noto Sans"/>
              <a:buNone/>
            </a:pPr>
            <a:r>
              <a:rPr b="1" lang="ja" sz="1200">
                <a:solidFill>
                  <a:srgbClr val="222222"/>
                </a:solidFill>
                <a:latin typeface="Noto Sans"/>
                <a:ea typeface="Noto Sans"/>
                <a:cs typeface="Noto Sans"/>
                <a:sym typeface="Noto Sans"/>
              </a:rPr>
              <a:t>切り出します。</a:t>
            </a:r>
            <a:endParaRPr b="1" sz="1200">
              <a:solidFill>
                <a:srgbClr val="22222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150121" y="3132108"/>
            <a:ext cx="2328900" cy="2352000"/>
          </a:xfrm>
          <a:prstGeom prst="roundRect">
            <a:avLst>
              <a:gd fmla="val 3141" name="adj"/>
            </a:avLst>
          </a:prstGeom>
          <a:solidFill>
            <a:srgbClr val="FFFFFF"/>
          </a:solidFill>
          <a:ln cap="flat" cmpd="sng" w="16500">
            <a:solidFill>
              <a:srgbClr val="8BC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/>
          <p:nvPr/>
        </p:nvSpPr>
        <p:spPr>
          <a:xfrm>
            <a:off x="290830" y="3279381"/>
            <a:ext cx="322500" cy="322800"/>
          </a:xfrm>
          <a:prstGeom prst="ellipse">
            <a:avLst/>
          </a:prstGeom>
          <a:solidFill>
            <a:srgbClr val="2A7DCC"/>
          </a:solidFill>
          <a:ln cap="flat" cmpd="sng" w="12700">
            <a:solidFill>
              <a:srgbClr val="2A7DC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6"/>
          <p:cNvSpPr/>
          <p:nvPr/>
        </p:nvSpPr>
        <p:spPr>
          <a:xfrm>
            <a:off x="290830" y="3293723"/>
            <a:ext cx="322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"/>
              <a:buNone/>
            </a:pPr>
            <a:r>
              <a:rPr b="1" lang="ja" sz="16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660677" y="3297408"/>
            <a:ext cx="18183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A68"/>
              </a:buClr>
              <a:buSzPts val="1700"/>
              <a:buFont typeface="Noto Sans"/>
              <a:buNone/>
            </a:pPr>
            <a:r>
              <a:rPr b="1" lang="ja" sz="1600">
                <a:solidFill>
                  <a:srgbClr val="082A68"/>
                </a:solidFill>
                <a:latin typeface="Noto Sans"/>
                <a:ea typeface="Noto Sans"/>
                <a:cs typeface="Noto Sans"/>
                <a:sym typeface="Noto Sans"/>
              </a:rPr>
              <a:t>顔の投影</a:t>
            </a:r>
            <a:endParaRPr b="1" sz="1600">
              <a:solidFill>
                <a:srgbClr val="082A68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229101" y="4973023"/>
            <a:ext cx="21498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Noto Sans"/>
              <a:buNone/>
            </a:pPr>
            <a:r>
              <a:rPr b="1" lang="ja" sz="1200">
                <a:solidFill>
                  <a:srgbClr val="222222"/>
                </a:solidFill>
                <a:latin typeface="Noto Sans"/>
                <a:ea typeface="Noto Sans"/>
                <a:cs typeface="Noto Sans"/>
                <a:sym typeface="Noto Sans"/>
              </a:rPr>
              <a:t>パソコンのカメラで</a:t>
            </a:r>
            <a:endParaRPr b="1" sz="1200">
              <a:solidFill>
                <a:srgbClr val="22222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Noto Sans"/>
              <a:buNone/>
            </a:pPr>
            <a:r>
              <a:rPr b="1" lang="ja" sz="1200">
                <a:solidFill>
                  <a:srgbClr val="222222"/>
                </a:solidFill>
                <a:latin typeface="Noto Sans"/>
                <a:ea typeface="Noto Sans"/>
                <a:cs typeface="Noto Sans"/>
                <a:sym typeface="Noto Sans"/>
              </a:rPr>
              <a:t>顔の映像を撮影します。</a:t>
            </a:r>
            <a:endParaRPr b="1" sz="1200">
              <a:solidFill>
                <a:srgbClr val="22222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2619767" y="3132108"/>
            <a:ext cx="2328900" cy="2352000"/>
          </a:xfrm>
          <a:prstGeom prst="roundRect">
            <a:avLst>
              <a:gd fmla="val 3141" name="adj"/>
            </a:avLst>
          </a:prstGeom>
          <a:solidFill>
            <a:srgbClr val="FFFFFF"/>
          </a:solidFill>
          <a:ln cap="flat" cmpd="sng" w="16500">
            <a:solidFill>
              <a:srgbClr val="8BC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6"/>
          <p:cNvSpPr/>
          <p:nvPr/>
        </p:nvSpPr>
        <p:spPr>
          <a:xfrm>
            <a:off x="2760451" y="3272956"/>
            <a:ext cx="322500" cy="322800"/>
          </a:xfrm>
          <a:prstGeom prst="ellipse">
            <a:avLst/>
          </a:prstGeom>
          <a:solidFill>
            <a:srgbClr val="2A7DCC"/>
          </a:solidFill>
          <a:ln cap="flat" cmpd="sng" w="12700">
            <a:solidFill>
              <a:srgbClr val="2A7DC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6"/>
          <p:cNvSpPr/>
          <p:nvPr/>
        </p:nvSpPr>
        <p:spPr>
          <a:xfrm>
            <a:off x="2760451" y="3287298"/>
            <a:ext cx="322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"/>
              <a:buNone/>
            </a:pPr>
            <a:r>
              <a:rPr b="1" lang="ja" sz="16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3137235" y="3290983"/>
            <a:ext cx="17802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A68"/>
              </a:buClr>
              <a:buSzPts val="1700"/>
              <a:buFont typeface="Noto Sans"/>
              <a:buNone/>
            </a:pPr>
            <a:r>
              <a:rPr b="1" lang="ja" sz="1600">
                <a:solidFill>
                  <a:srgbClr val="082A68"/>
                </a:solidFill>
                <a:latin typeface="Noto Sans"/>
                <a:ea typeface="Noto Sans"/>
                <a:cs typeface="Noto Sans"/>
                <a:sym typeface="Noto Sans"/>
              </a:rPr>
              <a:t>顔の検出</a:t>
            </a:r>
            <a:endParaRPr b="1" sz="1600">
              <a:solidFill>
                <a:srgbClr val="082A68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2698746" y="4973023"/>
            <a:ext cx="21498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Noto Sans"/>
              <a:buNone/>
            </a:pPr>
            <a:r>
              <a:rPr b="1" lang="ja" sz="1200">
                <a:solidFill>
                  <a:srgbClr val="222222"/>
                </a:solidFill>
                <a:latin typeface="Noto Sans"/>
                <a:ea typeface="Noto Sans"/>
                <a:cs typeface="Noto Sans"/>
                <a:sym typeface="Noto Sans"/>
              </a:rPr>
              <a:t>映像から顔が</a:t>
            </a:r>
            <a:endParaRPr b="1" sz="1200">
              <a:solidFill>
                <a:srgbClr val="22222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Noto Sans"/>
              <a:buNone/>
            </a:pPr>
            <a:r>
              <a:rPr b="1" lang="ja" sz="1200">
                <a:solidFill>
                  <a:srgbClr val="222222"/>
                </a:solidFill>
                <a:latin typeface="Noto Sans"/>
                <a:ea typeface="Noto Sans"/>
                <a:cs typeface="Noto Sans"/>
                <a:sym typeface="Noto Sans"/>
              </a:rPr>
              <a:t>どこにあるのかを見つけます。</a:t>
            </a:r>
            <a:endParaRPr b="1" sz="1200">
              <a:solidFill>
                <a:srgbClr val="22222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5089387" y="5624814"/>
            <a:ext cx="2328900" cy="2352000"/>
          </a:xfrm>
          <a:prstGeom prst="roundRect">
            <a:avLst>
              <a:gd fmla="val 3141" name="adj"/>
            </a:avLst>
          </a:prstGeom>
          <a:solidFill>
            <a:srgbClr val="FFFFFF"/>
          </a:solidFill>
          <a:ln cap="flat" cmpd="sng" w="16500">
            <a:solidFill>
              <a:srgbClr val="8BC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5178938" y="7465729"/>
            <a:ext cx="21498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Noto Sans"/>
              <a:buNone/>
            </a:pPr>
            <a:r>
              <a:rPr b="1" lang="ja" sz="1200">
                <a:solidFill>
                  <a:srgbClr val="222222"/>
                </a:solidFill>
                <a:latin typeface="Noto Sans"/>
                <a:ea typeface="Noto Sans"/>
                <a:cs typeface="Noto Sans"/>
                <a:sym typeface="Noto Sans"/>
              </a:rPr>
              <a:t>波の繰り返しから</a:t>
            </a:r>
            <a:endParaRPr b="1" sz="1200">
              <a:solidFill>
                <a:srgbClr val="22222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Noto Sans"/>
              <a:buNone/>
            </a:pPr>
            <a:r>
              <a:rPr b="1" lang="ja" sz="1200">
                <a:solidFill>
                  <a:srgbClr val="222222"/>
                </a:solidFill>
                <a:latin typeface="Noto Sans"/>
                <a:ea typeface="Noto Sans"/>
                <a:cs typeface="Noto Sans"/>
                <a:sym typeface="Noto Sans"/>
              </a:rPr>
              <a:t>心拍数(BPM)を計算します。</a:t>
            </a:r>
            <a:endParaRPr b="1" sz="1200">
              <a:solidFill>
                <a:srgbClr val="22222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150121" y="5624814"/>
            <a:ext cx="2328900" cy="2352000"/>
          </a:xfrm>
          <a:prstGeom prst="roundRect">
            <a:avLst>
              <a:gd fmla="val 3141" name="adj"/>
            </a:avLst>
          </a:prstGeom>
          <a:solidFill>
            <a:srgbClr val="FFFFFF"/>
          </a:solidFill>
          <a:ln cap="flat" cmpd="sng" w="16500">
            <a:solidFill>
              <a:srgbClr val="8BC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1" name="Google Shape;101;p16"/>
          <p:cNvGrpSpPr/>
          <p:nvPr/>
        </p:nvGrpSpPr>
        <p:grpSpPr>
          <a:xfrm>
            <a:off x="290830" y="5765524"/>
            <a:ext cx="322500" cy="322800"/>
            <a:chOff x="206230" y="5718024"/>
            <a:chExt cx="322500" cy="322800"/>
          </a:xfrm>
        </p:grpSpPr>
        <p:sp>
          <p:nvSpPr>
            <p:cNvPr id="102" name="Google Shape;102;p16"/>
            <p:cNvSpPr/>
            <p:nvPr/>
          </p:nvSpPr>
          <p:spPr>
            <a:xfrm>
              <a:off x="206230" y="5718024"/>
              <a:ext cx="322500" cy="322800"/>
            </a:xfrm>
            <a:prstGeom prst="ellipse">
              <a:avLst/>
            </a:prstGeom>
            <a:solidFill>
              <a:srgbClr val="2A7DCC"/>
            </a:solidFill>
            <a:ln cap="flat" cmpd="sng" w="12700">
              <a:solidFill>
                <a:srgbClr val="2A7DCC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6"/>
            <p:cNvSpPr/>
            <p:nvPr/>
          </p:nvSpPr>
          <p:spPr>
            <a:xfrm>
              <a:off x="206230" y="5732366"/>
              <a:ext cx="322500" cy="28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Noto Sans"/>
                <a:buNone/>
              </a:pPr>
              <a:r>
                <a:rPr b="1" i="0" lang="ja" sz="1600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4</a:t>
              </a:r>
              <a:endParaRPr b="0" i="0" sz="1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sp>
        <p:nvSpPr>
          <p:cNvPr id="104" name="Google Shape;104;p16"/>
          <p:cNvSpPr/>
          <p:nvPr/>
        </p:nvSpPr>
        <p:spPr>
          <a:xfrm>
            <a:off x="660665" y="5783559"/>
            <a:ext cx="17127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A68"/>
              </a:buClr>
              <a:buSzPts val="1700"/>
              <a:buFont typeface="Noto Sans"/>
              <a:buNone/>
            </a:pPr>
            <a:r>
              <a:rPr b="1" lang="ja" sz="1600">
                <a:solidFill>
                  <a:srgbClr val="082A68"/>
                </a:solidFill>
                <a:latin typeface="Noto Sans"/>
                <a:ea typeface="Noto Sans"/>
                <a:cs typeface="Noto Sans"/>
                <a:sym typeface="Noto Sans"/>
              </a:rPr>
              <a:t>色変化の解析 </a:t>
            </a:r>
            <a:endParaRPr b="1" sz="1600">
              <a:solidFill>
                <a:srgbClr val="082A68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239671" y="7477379"/>
            <a:ext cx="21498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Noto Sans"/>
              <a:buNone/>
            </a:pPr>
            <a:r>
              <a:rPr b="1" lang="ja" sz="1200">
                <a:solidFill>
                  <a:srgbClr val="222222"/>
                </a:solidFill>
                <a:latin typeface="Noto Sans"/>
                <a:ea typeface="Noto Sans"/>
                <a:cs typeface="Noto Sans"/>
                <a:sym typeface="Noto Sans"/>
              </a:rPr>
              <a:t>赤・緑・青の明るさから</a:t>
            </a:r>
            <a:endParaRPr b="1" sz="1200">
              <a:solidFill>
                <a:srgbClr val="22222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Noto Sans"/>
              <a:buNone/>
            </a:pPr>
            <a:r>
              <a:rPr b="1" lang="ja" sz="1200">
                <a:solidFill>
                  <a:srgbClr val="222222"/>
                </a:solidFill>
                <a:latin typeface="Noto Sans"/>
                <a:ea typeface="Noto Sans"/>
                <a:cs typeface="Noto Sans"/>
                <a:sym typeface="Noto Sans"/>
              </a:rPr>
              <a:t>時間ごとの変化を取得します。</a:t>
            </a:r>
            <a:endParaRPr b="1" sz="1200">
              <a:solidFill>
                <a:srgbClr val="22222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2620792" y="5624814"/>
            <a:ext cx="2328900" cy="2352000"/>
          </a:xfrm>
          <a:prstGeom prst="roundRect">
            <a:avLst>
              <a:gd fmla="val 3141" name="adj"/>
            </a:avLst>
          </a:prstGeom>
          <a:solidFill>
            <a:srgbClr val="FFFFFF"/>
          </a:solidFill>
          <a:ln cap="flat" cmpd="sng" w="16500">
            <a:solidFill>
              <a:srgbClr val="8BC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7" name="Google Shape;107;p16"/>
          <p:cNvGrpSpPr/>
          <p:nvPr/>
        </p:nvGrpSpPr>
        <p:grpSpPr>
          <a:xfrm>
            <a:off x="2760442" y="5765549"/>
            <a:ext cx="322500" cy="322800"/>
            <a:chOff x="2692442" y="5718024"/>
            <a:chExt cx="322500" cy="322800"/>
          </a:xfrm>
        </p:grpSpPr>
        <p:sp>
          <p:nvSpPr>
            <p:cNvPr id="108" name="Google Shape;108;p16"/>
            <p:cNvSpPr/>
            <p:nvPr/>
          </p:nvSpPr>
          <p:spPr>
            <a:xfrm>
              <a:off x="2692442" y="5718024"/>
              <a:ext cx="322500" cy="322800"/>
            </a:xfrm>
            <a:prstGeom prst="ellipse">
              <a:avLst/>
            </a:prstGeom>
            <a:solidFill>
              <a:srgbClr val="2A7DCC"/>
            </a:solidFill>
            <a:ln cap="flat" cmpd="sng" w="12700">
              <a:solidFill>
                <a:srgbClr val="2A7DCC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6"/>
            <p:cNvSpPr/>
            <p:nvPr/>
          </p:nvSpPr>
          <p:spPr>
            <a:xfrm>
              <a:off x="2692442" y="5732366"/>
              <a:ext cx="322500" cy="28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Noto Sans"/>
                <a:buNone/>
              </a:pPr>
              <a:r>
                <a:rPr b="1" lang="ja" sz="160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5</a:t>
              </a:r>
              <a:endParaRPr b="1" sz="16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sp>
        <p:nvSpPr>
          <p:cNvPr id="110" name="Google Shape;110;p16"/>
          <p:cNvSpPr/>
          <p:nvPr/>
        </p:nvSpPr>
        <p:spPr>
          <a:xfrm>
            <a:off x="3137235" y="5783584"/>
            <a:ext cx="17127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A68"/>
              </a:buClr>
              <a:buSzPts val="1700"/>
              <a:buFont typeface="Noto Sans"/>
              <a:buNone/>
            </a:pPr>
            <a:r>
              <a:rPr b="1" lang="ja" sz="1600">
                <a:solidFill>
                  <a:srgbClr val="082A68"/>
                </a:solidFill>
                <a:latin typeface="Noto Sans"/>
                <a:ea typeface="Noto Sans"/>
                <a:cs typeface="Noto Sans"/>
                <a:sym typeface="Noto Sans"/>
              </a:rPr>
              <a:t>脈波の生成</a:t>
            </a:r>
            <a:endParaRPr b="1" sz="1600">
              <a:solidFill>
                <a:srgbClr val="082A68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2710342" y="7465729"/>
            <a:ext cx="21498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Noto Sans"/>
              <a:buNone/>
            </a:pPr>
            <a:r>
              <a:rPr b="1" lang="ja" sz="1200">
                <a:solidFill>
                  <a:srgbClr val="222222"/>
                </a:solidFill>
                <a:latin typeface="Noto Sans"/>
                <a:ea typeface="Noto Sans"/>
                <a:cs typeface="Noto Sans"/>
                <a:sym typeface="Noto Sans"/>
              </a:rPr>
              <a:t>ノイズを削減して</a:t>
            </a:r>
            <a:endParaRPr b="1" sz="1200">
              <a:solidFill>
                <a:srgbClr val="22222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Noto Sans"/>
              <a:buNone/>
            </a:pPr>
            <a:r>
              <a:rPr b="1" lang="ja" sz="1200">
                <a:solidFill>
                  <a:srgbClr val="222222"/>
                </a:solidFill>
                <a:latin typeface="Noto Sans"/>
                <a:ea typeface="Noto Sans"/>
                <a:cs typeface="Noto Sans"/>
                <a:sym typeface="Noto Sans"/>
              </a:rPr>
              <a:t>脈らしい波を生成します。</a:t>
            </a:r>
            <a:endParaRPr b="1" sz="1200">
              <a:solidFill>
                <a:srgbClr val="22222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243588" y="2839029"/>
            <a:ext cx="17127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A68"/>
              </a:buClr>
              <a:buSzPts val="1700"/>
              <a:buFont typeface="Noto Sans"/>
              <a:buNone/>
            </a:pPr>
            <a:r>
              <a:rPr b="1" lang="ja" sz="1900">
                <a:solidFill>
                  <a:srgbClr val="082A68"/>
                </a:solidFill>
                <a:latin typeface="Noto Sans"/>
                <a:ea typeface="Noto Sans"/>
                <a:cs typeface="Noto Sans"/>
                <a:sym typeface="Noto Sans"/>
              </a:rPr>
              <a:t>システムの流れ</a:t>
            </a:r>
            <a:endParaRPr b="1" sz="1900">
              <a:solidFill>
                <a:srgbClr val="082A68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13" name="Google Shape;113;p16"/>
          <p:cNvGrpSpPr/>
          <p:nvPr/>
        </p:nvGrpSpPr>
        <p:grpSpPr>
          <a:xfrm>
            <a:off x="5230080" y="5765574"/>
            <a:ext cx="322500" cy="322800"/>
            <a:chOff x="5161030" y="5718024"/>
            <a:chExt cx="322500" cy="322800"/>
          </a:xfrm>
        </p:grpSpPr>
        <p:sp>
          <p:nvSpPr>
            <p:cNvPr id="114" name="Google Shape;114;p16"/>
            <p:cNvSpPr/>
            <p:nvPr/>
          </p:nvSpPr>
          <p:spPr>
            <a:xfrm>
              <a:off x="5161030" y="5718024"/>
              <a:ext cx="322500" cy="322800"/>
            </a:xfrm>
            <a:prstGeom prst="ellipse">
              <a:avLst/>
            </a:prstGeom>
            <a:solidFill>
              <a:srgbClr val="2A7DCC"/>
            </a:solidFill>
            <a:ln cap="flat" cmpd="sng" w="12700">
              <a:solidFill>
                <a:srgbClr val="2A7DCC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6"/>
            <p:cNvSpPr/>
            <p:nvPr/>
          </p:nvSpPr>
          <p:spPr>
            <a:xfrm>
              <a:off x="5161030" y="5732366"/>
              <a:ext cx="322500" cy="28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Noto Sans"/>
                <a:buNone/>
              </a:pPr>
              <a:r>
                <a:rPr b="1" lang="ja" sz="160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6</a:t>
              </a:r>
              <a:endParaRPr b="1" sz="16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sp>
        <p:nvSpPr>
          <p:cNvPr id="116" name="Google Shape;116;p16"/>
          <p:cNvSpPr/>
          <p:nvPr/>
        </p:nvSpPr>
        <p:spPr>
          <a:xfrm>
            <a:off x="5606894" y="5783614"/>
            <a:ext cx="17802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A68"/>
              </a:buClr>
              <a:buSzPts val="1700"/>
              <a:buFont typeface="Noto Sans"/>
              <a:buNone/>
            </a:pPr>
            <a:r>
              <a:rPr b="1" lang="ja" sz="1600">
                <a:solidFill>
                  <a:srgbClr val="082A68"/>
                </a:solidFill>
                <a:latin typeface="Noto Sans"/>
                <a:ea typeface="Noto Sans"/>
                <a:cs typeface="Noto Sans"/>
                <a:sym typeface="Noto Sans"/>
              </a:rPr>
              <a:t>心拍数の計算</a:t>
            </a:r>
            <a:endParaRPr b="1" sz="1600">
              <a:solidFill>
                <a:srgbClr val="082A68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17" name="Google Shape;117;p16" title="ZRSd688bHFHUvPN1783856346_17838563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5805" y="497226"/>
            <a:ext cx="952947" cy="952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title="MJI85xCpPEAaywi1783856281_178385628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125" y="1884006"/>
            <a:ext cx="770528" cy="770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title="cy1TXJCeEKZQJTN1783856386_178385638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05797" y="1889580"/>
            <a:ext cx="752952" cy="752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title="IjDo8iPTJp8ChOH1783856361_1783856366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0685" y="3625977"/>
            <a:ext cx="1347798" cy="13477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title="3sGGjqQbv97yxxi1783856424_1783856427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63043" y="3685899"/>
            <a:ext cx="1244418" cy="12444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 title="EH59Tz1qLn1QFkl1783856404_178385640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621066" y="3653187"/>
            <a:ext cx="1244417" cy="12444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3" name="Google Shape;123;p16"/>
          <p:cNvGrpSpPr/>
          <p:nvPr/>
        </p:nvGrpSpPr>
        <p:grpSpPr>
          <a:xfrm>
            <a:off x="5466250" y="6384250"/>
            <a:ext cx="1554000" cy="785580"/>
            <a:chOff x="5552550" y="6415700"/>
            <a:chExt cx="1554000" cy="785580"/>
          </a:xfrm>
        </p:grpSpPr>
        <p:pic>
          <p:nvPicPr>
            <p:cNvPr id="124" name="Google Shape;124;p16" title="NjWvleJUW9SLAYv1783856548_1783857191.png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5707350" y="6823516"/>
              <a:ext cx="1244400" cy="3777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" name="Google Shape;125;p16"/>
            <p:cNvSpPr/>
            <p:nvPr/>
          </p:nvSpPr>
          <p:spPr>
            <a:xfrm>
              <a:off x="5552550" y="6415700"/>
              <a:ext cx="1554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F4D57"/>
                </a:buClr>
                <a:buSzPts val="2900"/>
                <a:buFont typeface="Noto Sans"/>
                <a:buNone/>
              </a:pPr>
              <a:r>
                <a:rPr b="1" lang="ja" sz="2100">
                  <a:solidFill>
                    <a:srgbClr val="F7252B"/>
                  </a:solidFill>
                  <a:latin typeface="Orbitron"/>
                  <a:ea typeface="Orbitron"/>
                  <a:cs typeface="Orbitron"/>
                  <a:sym typeface="Orbitron"/>
                </a:rPr>
                <a:t>BPM 6</a:t>
              </a:r>
              <a:r>
                <a:rPr b="1" i="0" lang="ja" sz="2100" u="none" cap="none" strike="noStrike">
                  <a:solidFill>
                    <a:srgbClr val="F7252B"/>
                  </a:solidFill>
                  <a:latin typeface="Orbitron"/>
                  <a:ea typeface="Orbitron"/>
                  <a:cs typeface="Orbitron"/>
                  <a:sym typeface="Orbitron"/>
                </a:rPr>
                <a:t>2</a:t>
              </a:r>
              <a:endParaRPr i="0" sz="2100" u="none" cap="none" strike="noStrike">
                <a:solidFill>
                  <a:srgbClr val="F7252B"/>
                </a:solidFill>
                <a:latin typeface="Orbitron"/>
                <a:ea typeface="Orbitron"/>
                <a:cs typeface="Orbitron"/>
                <a:sym typeface="Orbitron"/>
              </a:endParaRPr>
            </a:p>
          </p:txBody>
        </p:sp>
      </p:grpSp>
      <p:sp>
        <p:nvSpPr>
          <p:cNvPr id="126" name="Google Shape;126;p16"/>
          <p:cNvSpPr/>
          <p:nvPr/>
        </p:nvSpPr>
        <p:spPr>
          <a:xfrm>
            <a:off x="502927" y="7070190"/>
            <a:ext cx="16233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Noto Sans"/>
              <a:buNone/>
            </a:pPr>
            <a:r>
              <a:rPr b="1" lang="ja" sz="900">
                <a:solidFill>
                  <a:srgbClr val="222222"/>
                </a:solidFill>
                <a:latin typeface="Noto Sans"/>
                <a:ea typeface="Noto Sans"/>
                <a:cs typeface="Noto Sans"/>
                <a:sym typeface="Noto Sans"/>
              </a:rPr>
              <a:t>時間</a:t>
            </a:r>
            <a:endParaRPr b="1" sz="900">
              <a:solidFill>
                <a:srgbClr val="22222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307525" y="6553815"/>
            <a:ext cx="179700" cy="4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Noto Sans"/>
              <a:buNone/>
            </a:pPr>
            <a:r>
              <a:rPr b="1" lang="ja" sz="900">
                <a:solidFill>
                  <a:srgbClr val="222222"/>
                </a:solidFill>
                <a:latin typeface="Noto Sans"/>
                <a:ea typeface="Noto Sans"/>
                <a:cs typeface="Noto Sans"/>
                <a:sym typeface="Noto Sans"/>
              </a:rPr>
              <a:t>明</a:t>
            </a:r>
            <a:endParaRPr b="1" sz="900">
              <a:solidFill>
                <a:srgbClr val="22222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Noto Sans"/>
              <a:buNone/>
            </a:pPr>
            <a:r>
              <a:rPr b="1" lang="ja" sz="900">
                <a:solidFill>
                  <a:srgbClr val="222222"/>
                </a:solidFill>
                <a:latin typeface="Noto Sans"/>
                <a:ea typeface="Noto Sans"/>
                <a:cs typeface="Noto Sans"/>
                <a:sym typeface="Noto Sans"/>
              </a:rPr>
              <a:t>る</a:t>
            </a:r>
            <a:endParaRPr b="1" sz="900">
              <a:solidFill>
                <a:srgbClr val="22222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Noto Sans"/>
              <a:buNone/>
            </a:pPr>
            <a:r>
              <a:rPr b="1" lang="ja" sz="900">
                <a:solidFill>
                  <a:srgbClr val="222222"/>
                </a:solidFill>
                <a:latin typeface="Noto Sans"/>
                <a:ea typeface="Noto Sans"/>
                <a:cs typeface="Noto Sans"/>
                <a:sym typeface="Noto Sans"/>
              </a:rPr>
              <a:t>さ</a:t>
            </a:r>
            <a:endParaRPr b="1" sz="900">
              <a:solidFill>
                <a:srgbClr val="22222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2076373" y="6562166"/>
            <a:ext cx="1797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Noto Sans"/>
              <a:buNone/>
            </a:pPr>
            <a:r>
              <a:rPr b="1" lang="ja" sz="700">
                <a:solidFill>
                  <a:srgbClr val="F90403"/>
                </a:solidFill>
                <a:latin typeface="Noto Sans"/>
                <a:ea typeface="Noto Sans"/>
                <a:cs typeface="Noto Sans"/>
                <a:sym typeface="Noto Sans"/>
              </a:rPr>
              <a:t>赤</a:t>
            </a:r>
            <a:endParaRPr b="1" sz="700">
              <a:solidFill>
                <a:srgbClr val="F90403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Noto Sans"/>
              <a:buNone/>
            </a:pPr>
            <a:r>
              <a:rPr b="1" lang="ja" sz="700">
                <a:solidFill>
                  <a:srgbClr val="09952B"/>
                </a:solidFill>
                <a:latin typeface="Noto Sans"/>
                <a:ea typeface="Noto Sans"/>
                <a:cs typeface="Noto Sans"/>
                <a:sym typeface="Noto Sans"/>
              </a:rPr>
              <a:t>緑</a:t>
            </a:r>
            <a:endParaRPr b="1" sz="700">
              <a:solidFill>
                <a:srgbClr val="09952B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Noto Sans"/>
              <a:buNone/>
            </a:pPr>
            <a:r>
              <a:rPr b="1" lang="ja" sz="700">
                <a:solidFill>
                  <a:srgbClr val="045EDA"/>
                </a:solidFill>
                <a:latin typeface="Noto Sans"/>
                <a:ea typeface="Noto Sans"/>
                <a:cs typeface="Noto Sans"/>
                <a:sym typeface="Noto Sans"/>
              </a:rPr>
              <a:t>青</a:t>
            </a:r>
            <a:endParaRPr b="1" sz="700">
              <a:solidFill>
                <a:srgbClr val="045EDA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3853088" y="6678341"/>
            <a:ext cx="8100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Noto Sans"/>
              <a:buNone/>
            </a:pPr>
            <a:r>
              <a:rPr b="1" lang="ja" sz="900">
                <a:solidFill>
                  <a:srgbClr val="222222"/>
                </a:solidFill>
                <a:latin typeface="Noto Sans"/>
                <a:ea typeface="Noto Sans"/>
                <a:cs typeface="Noto Sans"/>
                <a:sym typeface="Noto Sans"/>
              </a:rPr>
              <a:t>ノイズ除去</a:t>
            </a:r>
            <a:endParaRPr b="1" sz="900">
              <a:solidFill>
                <a:srgbClr val="22222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30" name="Google Shape;130;p16"/>
          <p:cNvCxnSpPr/>
          <p:nvPr/>
        </p:nvCxnSpPr>
        <p:spPr>
          <a:xfrm>
            <a:off x="3853088" y="6591653"/>
            <a:ext cx="0" cy="352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31" name="Google Shape;131;p16" title="IPJERcyhT6jfk6w1783859871_1783859873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51567" y="6510192"/>
            <a:ext cx="1712705" cy="5703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2" name="Google Shape;132;p16"/>
          <p:cNvGrpSpPr/>
          <p:nvPr/>
        </p:nvGrpSpPr>
        <p:grpSpPr>
          <a:xfrm>
            <a:off x="3058191" y="6105426"/>
            <a:ext cx="1592676" cy="1262948"/>
            <a:chOff x="8241113" y="5966200"/>
            <a:chExt cx="1592676" cy="1262948"/>
          </a:xfrm>
        </p:grpSpPr>
        <p:pic>
          <p:nvPicPr>
            <p:cNvPr id="133" name="Google Shape;133;p16" title="XjTgE9awm3UtCjh1783859885_1783859886.png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8241113" y="5966200"/>
              <a:ext cx="1583402" cy="5272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4" name="Google Shape;134;p16" title="AOw1892yuljkTnB1783859893_1783859895.png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8250386" y="6701876"/>
              <a:ext cx="1583402" cy="52727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5" name="Google Shape;135;p16" title="mJffAaRet9vwuxR1783862427_1783862430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70073" y="10132995"/>
            <a:ext cx="270600" cy="27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title="wZ68BJBh2ZG2VJC1783862412_1783862414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70073" y="8690742"/>
            <a:ext cx="270600" cy="27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title="TFizBtCV8NebFEe1783862391_1783862398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370073" y="9172706"/>
            <a:ext cx="270600" cy="27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title="tO23TBUyPGtE2xL1783862365_1783862368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370073" y="9652844"/>
            <a:ext cx="270600" cy="27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title="rvzSpMuno6qqYmm1783856445_1783856447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3713200" y="8712708"/>
            <a:ext cx="940140" cy="940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title="kjGputifbGdl3fz1783856466_1783856530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5038492" y="8679542"/>
            <a:ext cx="889503" cy="889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title="sOdpRNgGodLpS291783863943_1783863945.png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6467710" y="8705695"/>
            <a:ext cx="785577" cy="7855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title="wTRxcBxnqqbwajt1783863921_1783863924.png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121800" y="335860"/>
            <a:ext cx="1275703" cy="1275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